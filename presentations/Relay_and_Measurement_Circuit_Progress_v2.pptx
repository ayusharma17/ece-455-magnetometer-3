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2992bf55de4ea8" /><Relationship Type="http://schemas.openxmlformats.org/officeDocument/2006/relationships/extended-properties" Target="/docProps/app.xml" Id="R95035427f2c7467b" /><Relationship Type="http://schemas.openxmlformats.org/officeDocument/2006/relationships/officeDocument" Target="/ppt/presentation.xml" Id="R0f3ab96327c741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b048f510cd4953"/>
  </p:sldMasterIdLst>
  <p:notesMasterIdLst>
    <p:notesMasterId xmlns:r="http://schemas.openxmlformats.org/officeDocument/2006/relationships" r:id="Rac4e33b601504090"/>
  </p:notesMasterIdLst>
  <p:sldIdLst>
    <p:sldId xmlns:r="http://schemas.openxmlformats.org/officeDocument/2006/relationships" id="256" r:id="Rb8e583ae71e64273"/>
    <p:sldId xmlns:r="http://schemas.openxmlformats.org/officeDocument/2006/relationships" id="257" r:id="Rf1596e923f744df2"/>
    <p:sldId xmlns:r="http://schemas.openxmlformats.org/officeDocument/2006/relationships" id="258" r:id="Re539a6b68936439c"/>
    <p:sldId xmlns:r="http://schemas.openxmlformats.org/officeDocument/2006/relationships" id="259" r:id="Rfd117f270e4a4dac"/>
    <p:sldId xmlns:r="http://schemas.openxmlformats.org/officeDocument/2006/relationships" id="260" r:id="R4338a7dd66044165"/>
    <p:sldId xmlns:r="http://schemas.openxmlformats.org/officeDocument/2006/relationships" id="261" r:id="Rd6d4fa9cb1894fb7"/>
    <p:sldId xmlns:r="http://schemas.openxmlformats.org/officeDocument/2006/relationships" id="262" r:id="Rf494dff3baed4434"/>
    <p:sldId xmlns:r="http://schemas.openxmlformats.org/officeDocument/2006/relationships" id="263" r:id="Re41ac9031b5c48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09daac88604af0" /><Relationship Type="http://schemas.openxmlformats.org/officeDocument/2006/relationships/slideMaster" Target="/ppt/slideMasters/slideMaster1.xml" Id="Rc0b048f510cd4953" /><Relationship Type="http://schemas.openxmlformats.org/officeDocument/2006/relationships/notesMaster" Target="/ppt/notesMasters/notesMaster1.xml" Id="Rac4e33b601504090" /><Relationship Type="http://schemas.openxmlformats.org/officeDocument/2006/relationships/presProps" Target="/ppt/presProps.xml" Id="R60b70188282b4f64" /><Relationship Type="http://schemas.openxmlformats.org/officeDocument/2006/relationships/tableStyles" Target="/ppt/tableStyles.xml" Id="Rba681b0aec654282" /><Relationship Type="http://schemas.openxmlformats.org/officeDocument/2006/relationships/slide" Target="/ppt/slides/slide1.xml" Id="Rb8e583ae71e64273" /><Relationship Type="http://schemas.openxmlformats.org/officeDocument/2006/relationships/slide" Target="/ppt/slides/slide2.xml" Id="Rf1596e923f744df2" /><Relationship Type="http://schemas.openxmlformats.org/officeDocument/2006/relationships/slide" Target="/ppt/slides/slide3.xml" Id="Re539a6b68936439c" /><Relationship Type="http://schemas.openxmlformats.org/officeDocument/2006/relationships/slide" Target="/ppt/slides/slide4.xml" Id="Rfd117f270e4a4dac" /><Relationship Type="http://schemas.openxmlformats.org/officeDocument/2006/relationships/slide" Target="/ppt/slides/slide5.xml" Id="R4338a7dd66044165" /><Relationship Type="http://schemas.openxmlformats.org/officeDocument/2006/relationships/slide" Target="/ppt/slides/slide6.xml" Id="Rd6d4fa9cb1894fb7" /><Relationship Type="http://schemas.openxmlformats.org/officeDocument/2006/relationships/slide" Target="/ppt/slides/slide7.xml" Id="Rf494dff3baed4434" /><Relationship Type="http://schemas.openxmlformats.org/officeDocument/2006/relationships/slide" Target="/ppt/slides/slide8.xml" Id="Re41ac9031b5c48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8cdff2c83d43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f600411d624deb" /><Relationship Type="http://schemas.openxmlformats.org/officeDocument/2006/relationships/notesMaster" Target="/ppt/notesMasters/notesMaster1.xml" Id="R1af1341fb80a43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62a86947d64680" /><Relationship Type="http://schemas.openxmlformats.org/officeDocument/2006/relationships/notesMaster" Target="/ppt/notesMasters/notesMaster1.xml" Id="R460d967656a84d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adb88cfb2546ee" /><Relationship Type="http://schemas.openxmlformats.org/officeDocument/2006/relationships/notesMaster" Target="/ppt/notesMasters/notesMaster1.xml" Id="R88d8a6b78b024e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b51bcc6edd44fc" /><Relationship Type="http://schemas.openxmlformats.org/officeDocument/2006/relationships/notesMaster" Target="/ppt/notesMasters/notesMaster1.xml" Id="R8eb6e169151e4f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96ac5c6a424508" /><Relationship Type="http://schemas.openxmlformats.org/officeDocument/2006/relationships/notesMaster" Target="/ppt/notesMasters/notesMaster1.xml" Id="Ra91c49ae21014b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370525f62b4db7" /><Relationship Type="http://schemas.openxmlformats.org/officeDocument/2006/relationships/notesMaster" Target="/ppt/notesMasters/notesMaster1.xml" Id="Ra4a5ce2e93574a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fed5dc5e41485a" /><Relationship Type="http://schemas.openxmlformats.org/officeDocument/2006/relationships/notesMaster" Target="/ppt/notesMasters/notesMaster1.xml" Id="Rd2f7843401d248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276ad863964289" /><Relationship Type="http://schemas.openxmlformats.org/officeDocument/2006/relationships/notesMaster" Target="/ppt/notesMasters/notesMaster1.xml" Id="R60e8db9ea5e947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relay switching and the measurement front end. The polarization power circuit is outside this presentation. Research sources include PyPPM v1.3 schematics, Ruhunusiri and Jayananda (2008), and the JPM-4 design paper.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complete-system netlist models a 7.5 mH, 5.5 Ω coil and a synthetic 10 µV, 2.214 kHz exponentially decaying FID source. This slide focuses on relay switching and signal conditioning, not the polarization power circuit.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LTSpice complete-system netlist; PyPPM v1.3 receive and relay schematics: https://github.com/geekysuavo/pyppm/tree/main/designs/ppm-1.3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PyPPM is the closest hardware reference for the relay and receive architecture. The Sri Lanka build documents practical relay sequencing, sensor tuning and an MFB amplifier chain. JPM-4 documents the coil-capacitor resonator and signal-shaping architecture. Our chosen values adapt those patterns to the modeled local coil.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PyPPM schematics, Sheets 7 and 13: https://github.com/geekysuavo/pyppm/tree/main/designs/ppm-1.3 ; Ruhunusiri &amp; Jayananda, Construction of a Proton Magnetometer (2008), https://ipsl.lk/documents/TechSession/2008/ipsl0812.pdf ; JPM-4 design paper, https://sensors.myu-group.co.jp/sm_pdf/SM2789.pdf ; local MEASURING_CIRCUIT_AND_RELAY.md.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two-pole relay switches both coil terminals. In the complete-system netlist, the relay command ramps from 0 to 5 V over 1.0–1.2 ms, remains energized through the polarization and quench interval, then ramps low over 14.0–14.2 ms. Voltage-controlled switches approximate contact routing and do not reproduce a physical relay’s coil inductance, operate/release delay, or bounce.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PyPPM v1.3 relay schematic, Sheet 13: https://github.com/geekysuavo/pyppm/blob/main/designs/ppm-1.3/13-relay.sch ; Ruhunusiri &amp; Jayananda (2008), https://ipsl.lk/documents/TechSession/2008/ipsl0812.pdf ; local LTSpice/complete_system/complete_system.cir.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input front end uses a parallel 690 nF tuning capacitor across the modeled 7.5 mH coil, 2.2 kΩ damping resistor, antiparallel Schottky clamps, 49.9 Ω input resistors, common-mode capacitors, and an instrumentation amplifier model with gain 50. The complete-system netlist includes additional MFB filtering, gain and comparator blocks.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LTSpice measuring_circuit.cir and complete_system.cir; PyPPM v1.3 receive chain, Sheets 7–10: https://github.com/geekysuavo/pyppm/tree/main/designs/ppm-1.3 ; JPM-4: https://sensors.myu-group.co.jp/sm_pdf/SM2789.pdf ; Ruhunusiri &amp; Jayananda (2008): https://ipsl.lk/documents/TechSession/2008/ipsl0812.pdf.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values were obtained by running LTspice in batch mode on the standalone measuring_circuit.cir netlist. The log reports V_INA_PEAK = 0.129531 V and V_AMP_PEAK = 1.39228 V over the 20 ms transient. They are maximum node values over the simulation, not a simultaneous gain measurement. The netlist applies a 100 mV 60 Hz source at the common-mode reference and a separate 10 mV 10 kHz series source at the coil negative node. It uses idealized behavioral amplifier models and synthetic FID input.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LTSpice/measuring_circuit/measuring_circuit.cir and its LTspice .log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remaining work is physical component selection, prototype assembly, instrumented verification, and integration. The modeled coil current is near 2 A, while the referenced G6A-2 relay in the local design notes is rated for 2 A carry; verify the selected relay’s exact datasheet and measured coil current. The LTspice relay switch model does not include mechanical delay or bounce.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POLARIZATION.md and MEASURING_CIRCUIT_AND_RELAY.md; PyPPM v1.3 relay and receive schematics: https://github.com/geekysuavo/pyppm/tree/main/designs/ppm-1.3.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source links:</a:t>
            </a:r>
          </a:p>
          <a:p xmlns:a="http://schemas.openxmlformats.org/drawingml/2006/main">
            <a:r>
              <a:t>[1] https://github.com/geekysuavo/pyppm/tree/main/designs/ppm-1.3</a:t>
            </a:r>
          </a:p>
          <a:p xmlns:a="http://schemas.openxmlformats.org/drawingml/2006/main">
            <a:r>
              <a:t>[2] https://ipsl.lk/documents/TechSession/2008/ipsl0812.pdf</a:t>
            </a:r>
          </a:p>
          <a:p xmlns:a="http://schemas.openxmlformats.org/drawingml/2006/main">
            <a:r>
              <a:t>[3] https://sensors.myu-group.co.jp/sm_pdf/SM2789.pdf</a:t>
            </a:r>
          </a:p>
          <a:p xmlns:a="http://schemas.openxmlformats.org/drawingml/2006/main">
            <a:r>
              <a:t>[4] Local repository, LTSpice/measuring_circuit/measuring_circuit.cir and LTSpice/complete_system/complete_system.cir</a:t>
            </a:r>
          </a:p>
          <a:p xmlns:a="http://schemas.openxmlformats.org/drawingml/2006/main">
            <a:r>
              <a:t>[5] Local repository documentation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f1507c2e034a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65f21cfeec4e45" /><Relationship Type="http://schemas.openxmlformats.org/officeDocument/2006/relationships/slideLayout" Target="/ppt/slideLayouts/slideLayout1.xml" Id="R00502044683f41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502044683f41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dacc51c7c49bb" /><Relationship Type="http://schemas.openxmlformats.org/officeDocument/2006/relationships/notesSlide" Target="/ppt/notesSlides/notesSlide1.xml" Id="Rc739bf06508149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a5686f1cd4cc7" /><Relationship Type="http://schemas.openxmlformats.org/officeDocument/2006/relationships/notesSlide" Target="/ppt/notesSlides/notesSlide2.xml" Id="R4c98309275e942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f0f2ddb2940aa" /><Relationship Type="http://schemas.openxmlformats.org/officeDocument/2006/relationships/notesSlide" Target="/ppt/notesSlides/notesSlide3.xml" Id="Rf5199b666c8643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c3cf185744f49" /><Relationship Type="http://schemas.openxmlformats.org/officeDocument/2006/relationships/notesSlide" Target="/ppt/notesSlides/notesSlide4.xml" Id="R0a9e83a2ea3842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665156a084f22" /><Relationship Type="http://schemas.openxmlformats.org/officeDocument/2006/relationships/image" Target="/ppt/media/image.png" Id="R9644106f0bb44d6d" /><Relationship Type="http://schemas.openxmlformats.org/officeDocument/2006/relationships/notesSlide" Target="/ppt/notesSlides/notesSlide5.xml" Id="Rc621fc2a154341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38e6e0be74d6b" /><Relationship Type="http://schemas.openxmlformats.org/officeDocument/2006/relationships/chart" Target="/ppt/slides/charts/chart1.xml" Id="R95dd494a86fb4779" /><Relationship Type="http://schemas.openxmlformats.org/officeDocument/2006/relationships/notesSlide" Target="/ppt/notesSlides/notesSlide6.xml" Id="Rd28e8640fea245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c73ecc0894314" /><Relationship Type="http://schemas.openxmlformats.org/officeDocument/2006/relationships/notesSlide" Target="/ppt/notesSlides/notesSlide7.xml" Id="R963416d9f4634b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9c22bba574646" /><Relationship Type="http://schemas.openxmlformats.org/officeDocument/2006/relationships/notesSlide" Target="/ppt/notesSlides/notesSlide8.xml" Id="R6d27e67e11484ef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Peak voltage reported by .meas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6263B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Peak voltage (mV)</c:v>
          </c:tx>
          <c:spPr>
            <a:solidFill xmlns:a="http://schemas.openxmlformats.org/drawingml/2006/main">
              <a:srgbClr val="138F91"/>
            </a:solidFill>
          </c:spPr>
          <c:cat>
            <c:strRef>
              <c:f>'Chart Data'!$A$2:$A$3</c:f>
              <c:strCache>
                <c:ptCount val="2"/>
                <c:pt idx="0">
                  <c:v>INA_OUT</c:v>
                </c:pt>
                <c:pt idx="1">
                  <c:v>FINAL_OUT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129.531</c:v>
                </c:pt>
                <c:pt idx="1">
                  <c:v>1392.28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6263B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C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526276"/>
                    </a:solidFill>
                    <a:latin typeface="Helvetica Neue"/>
                    <a:ea typeface="Helvetica Neue"/>
                    <a:cs typeface="Helvetica Neue"/>
                  </a:rPr>
                  <a:t>Voltage (mV)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526276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C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50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A200E-EBC4-48F6-89F3-6189D2E8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A89A2-7972-4433-B160-535C8EF1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24000"/>
            <a:ext cx="952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Relay switching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and measurement front 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AEAF7-0209-40BE-BA5D-16FB5C98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8D6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C8D6E6"/>
                </a:solidFill>
                <a:latin typeface="Helvetica Neue"/>
                <a:ea typeface="Helvetica Neue"/>
                <a:cs typeface="Helvetica Neue"/>
              </a:rPr>
              <a:t>Proton precession magnetometer, ECE 455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FEC6F-CDFA-48D7-86B8-9EDC7525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3A8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93A8C1"/>
                </a:solidFill>
                <a:latin typeface="Helvetica Neue"/>
                <a:ea typeface="Helvetica Neue"/>
                <a:cs typeface="Helvetica Neue"/>
              </a:rPr>
              <a:t>Research, design, LTspice simulation, and the hardware work ahead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C3EB4-51FA-4598-91B1-E6B96FEF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3A8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3A8C1"/>
                </a:solidFill>
                <a:latin typeface="Helvetica Neue"/>
                <a:ea typeface="Helvetica Neue"/>
                <a:cs typeface="Helvetica Neue"/>
              </a:rPr>
              <a:t>Fall 2026</a:t>
            </a:r>
          </a:p>
        </p:txBody>
      </p:sp>
    </p:spTree>
    <p:extLst>
      <p:ext uri="{BB962C8B-B14F-4D97-AF65-F5344CB8AC3E}">
        <p14:creationId xmlns:p14="http://schemas.microsoft.com/office/powerpoint/2010/main" val="10382082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C85192-F236-4492-B547-1597ED08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Two circuits connect the sensor to a usable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1BE14-E102-40B0-B2E7-549B0D10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4DC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7EAD3-662B-47C1-9471-D3AAC870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37197-D024-4073-A1CA-5578477B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87906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The relay routes both coil leads. The receive chain then raises and conditions the microvolt FID for frequency capture.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13768-1E1E-42B6-88CD-779636F7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15621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14288">
            <a:solidFill>
              <a:srgbClr val="3867A8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Sensor coil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~10 µV FID</a:t>
            </a:r>
          </a:p>
          <a:p xmlns:a="http://schemas.openxmlformats.org/drawingml/2006/main">
            <a:pPr algn="ctr">
              <a:def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~2.2 kHz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16345-E212-49B5-A331-DE883D3A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57450"/>
            <a:ext cx="15621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BF1E2"/>
          </a:solidFill>
          <a:ln xmlns:a="http://schemas.openxmlformats.org/drawingml/2006/main" w="14288">
            <a:solidFill>
              <a:srgbClr val="C98525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DPDT relay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selects coil</a:t>
            </a:r>
          </a:p>
          <a:p xmlns:a="http://schemas.openxmlformats.org/drawingml/2006/main">
            <a:pPr algn="ctr">
              <a:def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connection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90750" y="3086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38F91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6AB22-98FE-441A-B187-D53F8164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15621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14288">
            <a:solidFill>
              <a:srgbClr val="138F9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92761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Tune + protect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690 nF LC</a:t>
            </a:r>
          </a:p>
          <a:p xmlns:a="http://schemas.openxmlformats.org/drawingml/2006/main">
            <a:pPr algn="ctr">
              <a:def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clamp + damping</a:t>
            </a:r>
          </a:p>
        </p:txBody>
      </p: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114800" y="3086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98525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C99BC-75CA-4899-A1D5-F6CB742A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15621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14288">
            <a:solidFill>
              <a:srgbClr val="138F9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INA stage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differential</a:t>
            </a:r>
          </a:p>
          <a:p xmlns:a="http://schemas.openxmlformats.org/drawingml/2006/main">
            <a:pPr algn="ctr">
              <a:def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gain ~50</a:t>
            </a:r>
          </a:p>
        </p:txBody>
      </p: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38850" y="3086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38F91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4B536-24A3-4B66-9918-2D5A202B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57450"/>
            <a:ext cx="15621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14288">
            <a:solidFill>
              <a:srgbClr val="138F9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Filter + gain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band-pass</a:t>
            </a:r>
          </a:p>
          <a:p xmlns:a="http://schemas.openxmlformats.org/drawingml/2006/main">
            <a:pPr algn="ctr">
              <a:def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near 2.2 kHz</a:t>
            </a:r>
          </a:p>
        </p:txBody>
      </p:sp>
      <p:cxnSp>
        <p:nvCxnSpPr>
          <p:cNvPr id="30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962900" y="3086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38F91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AC2FC-CD05-41FD-A50B-05520C81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457450"/>
            <a:ext cx="15621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14288">
            <a:solidFill>
              <a:srgbClr val="138F9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Comparator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logic edges</a:t>
            </a:r>
          </a:p>
          <a:p xmlns:a="http://schemas.openxmlformats.org/drawingml/2006/main">
            <a:pPr algn="ctr">
              <a:def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for capture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886950" y="3086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38F91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691AD-8B2F-4A1F-A327-19190B3F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053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The relay’s measurement state reconnects the coil to the preamp after switching.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7AE073-10F1-4E67-9CA8-F4E5A5C8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Model input: 10 µV peak at 2.214 kHz with a 200 ms decay constant. These are simulation assumptions, not measured coil data.</a:t>
            </a:r>
          </a:p>
        </p:txBody>
      </p:sp>
    </p:spTree>
    <p:extLst>
      <p:ext uri="{BB962C8B-B14F-4D97-AF65-F5344CB8AC3E}">
        <p14:creationId xmlns:p14="http://schemas.microsoft.com/office/powerpoint/2010/main" val="688038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0D428F-7934-49B8-9906-42C448E7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Reference projects informed the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D4B58-13BD-4721-AA91-E1D123C1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4DC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A1045-1A25-4D55-ACA8-6902E069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733C2-158E-47D5-B047-939B7C1F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67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867A8"/>
                </a:solidFill>
                <a:latin typeface="Helvetica Neue"/>
                <a:ea typeface="Helvetica Neue"/>
                <a:cs typeface="Helvetica Neue"/>
              </a:rPr>
              <a:t>PyPPM v1.3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76092-9DDF-43A5-8381-4BD03E39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Sheets 7 and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A5E5F-2E2B-4994-9457-1906323F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476375"/>
            <a:ext cx="0" cy="885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B7806-BAD4-4345-8557-CFFBA16E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38275"/>
            <a:ext cx="733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Differential receive front end and a two-pole relay that switches the sensor between polarization and measurement paths.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42993-0A09-4220-9D68-3307C4CF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EB940-9144-4D22-AD23-9E26ABC4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780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85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98525"/>
                </a:solidFill>
                <a:latin typeface="Helvetica Neue"/>
                <a:ea typeface="Helvetica Neue"/>
                <a:cs typeface="Helvetica Neue"/>
              </a:rPr>
              <a:t>Ruhunusiri &amp; Jayananda, 2008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C2F54-CC29-4FC3-BDA2-BCFAD300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Sections 2.2–2.4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D21D2-972D-443C-846F-B6B0325B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28925"/>
            <a:ext cx="0" cy="885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6BEEA-E879-42A9-B710-719C6B07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90825"/>
            <a:ext cx="733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Describes relay-controlled polarization-to-amplifier sequencing, coil resonance, a low-noise preamp, and a multiple-feedback band-pass stage.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44779-ED69-4731-B799-59C88203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B47A1-2457-48E3-B85A-47975795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67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867A8"/>
                </a:solidFill>
                <a:latin typeface="Helvetica Neue"/>
                <a:ea typeface="Helvetica Neue"/>
                <a:cs typeface="Helvetica Neue"/>
              </a:rPr>
              <a:t>JPM-4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81C64-7A13-454A-8147-0F6DE211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Sensors and Materials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7B551A-7459-4D28-998A-4D5417BD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81475"/>
            <a:ext cx="0" cy="885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616C01-7702-4160-A79C-7C5984BB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43375"/>
            <a:ext cx="733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Uses the sensor coil and tuning capacitor as a parallel resonator, followed by amplification and signal shaping.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10623-7404-4C6B-B96D-866C50E6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Project adaptation: 690 nF tunes the modeled 7.5 mH coil near 2.214 kHz. These values are project choices, not universal requirements.</a:t>
            </a:r>
          </a:p>
        </p:txBody>
      </p:sp>
    </p:spTree>
    <p:extLst>
      <p:ext uri="{BB962C8B-B14F-4D97-AF65-F5344CB8AC3E}">
        <p14:creationId xmlns:p14="http://schemas.microsoft.com/office/powerpoint/2010/main" val="6685871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18F293-780F-4D7F-B865-23F8EFB3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The DPDT relay changes both coil connections together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D3816-C32D-45B9-9BCF-FAAF8983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4DC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6DF5C-4718-43A6-9E6E-EB86C2D4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FCD6C-1484-426F-BBB1-BF6C980F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Two poles keep both sensor leads isolated from the receiver during the switching interval.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563E5-DD1D-4D66-8779-07DECC18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2095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14288">
            <a:solidFill>
              <a:srgbClr val="3867A8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Polarization</a:t>
            </a:r>
          </a:p>
          <a:p xmlns:a="http://schemas.openxmlformats.org/drawingml/2006/main">
            <a:pPr algn="ctr">
              <a:defRPr sz="1725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F48F2-3409-4BC3-B028-07CC9C5B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76450"/>
            <a:ext cx="2381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BF1E2"/>
          </a:solidFill>
          <a:ln xmlns:a="http://schemas.openxmlformats.org/drawingml/2006/main" w="14288">
            <a:solidFill>
              <a:srgbClr val="C98525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DPDT relay</a:t>
            </a:r>
          </a:p>
          <a:p xmlns:a="http://schemas.openxmlformats.org/drawingml/2006/main">
            <a:pPr algn="ctr">
              <a:defRPr sz="1875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2 Form 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500E0-29FE-4E65-817A-723A7B8D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4810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14288">
            <a:solidFill>
              <a:srgbClr val="138F9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Sensor coil</a:t>
            </a:r>
          </a:p>
          <a:p xmlns:a="http://schemas.openxmlformats.org/drawingml/2006/main">
            <a:pPr algn="ctr">
              <a:defRPr sz="16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lead pair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BA8AE-028E-46A8-A6B7-C0B458D6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66950"/>
            <a:ext cx="22098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14288">
            <a:solidFill>
              <a:srgbClr val="138F9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Measurement</a:t>
            </a:r>
          </a:p>
          <a:p xmlns:a="http://schemas.openxmlformats.org/drawingml/2006/main">
            <a:pPr algn="ctr">
              <a:defRPr sz="1725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preamp</a:t>
            </a:r>
          </a:p>
        </p:txBody>
      </p: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90850" y="2733675"/>
            <a:ext cx="1828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867A8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200900" y="2733675"/>
            <a:ext cx="1828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38F91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7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6010275" y="339090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98525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5A10E-EF96-4CEF-91B9-6D490200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867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867A8"/>
                </a:solidFill>
                <a:latin typeface="Helvetica Neue"/>
                <a:ea typeface="Helvetica Neue"/>
                <a:cs typeface="Helvetica Neue"/>
              </a:rPr>
              <a:t>Energized: coil connects to polarization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7FFD6-0B8E-49FA-9C8D-F3003A92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38F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8F91"/>
                </a:solidFill>
                <a:latin typeface="Helvetica Neue"/>
                <a:ea typeface="Helvetica Neue"/>
                <a:cs typeface="Helvetica Neue"/>
              </a:rPr>
              <a:t>Released: coil connects to measurement preamp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896DCF-95FD-44C5-816E-4F5448FA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57850"/>
            <a:ext cx="992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4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13A2D-31D9-4043-B282-EA384474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721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6848-0BF0-4F36-9191-336ADA37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72125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5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E09671-742C-4C2C-A6B1-A5919159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721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4B73EC-DF4F-4C2E-A017-E9AEB602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1.0–1.2 ms pull-in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97D5A0-A3C4-4999-B17D-9190542F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29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relay held through polarization and quench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C6CD95-7792-40C5-986E-0404414D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829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14.0–14.2 ms release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E22A1E-D748-4BEC-8404-B722E4C9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9125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LTspice models relay contacts as voltage-controlled switches. Real coil delay, contact bounce, and isolation still need bench measurement.</a:t>
            </a:r>
          </a:p>
        </p:txBody>
      </p:sp>
    </p:spTree>
    <p:extLst>
      <p:ext uri="{BB962C8B-B14F-4D97-AF65-F5344CB8AC3E}">
        <p14:creationId xmlns:p14="http://schemas.microsoft.com/office/powerpoint/2010/main" val="4853565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A70D3A-5D88-49E4-BF9B-784D7494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Measurement front end: tune, protect, amplify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F286A-4A2F-4B4A-9D8E-DA4B08BA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4DC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5C380-9200-4ABD-A119-9EF97457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E2793-5422-4A60-9281-22727BA4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04950"/>
            <a:ext cx="15716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14288">
            <a:solidFill>
              <a:srgbClr val="3867A8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LC tank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690 nF</a:t>
            </a:r>
          </a:p>
          <a:p xmlns:a="http://schemas.openxmlformats.org/drawingml/2006/main">
            <a:pPr algn="ctr">
              <a:def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~2.2 kHz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0208B-BC3E-4CEA-BA72-A1577392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504950"/>
            <a:ext cx="15716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14288">
            <a:solidFill>
              <a:srgbClr val="3867A8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2.2 kΩ damping</a:t>
            </a:r>
          </a:p>
          <a:p xmlns:a="http://schemas.openxmlformats.org/drawingml/2006/main">
            <a:pPr algn="ctr">
              <a:def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Schottky clamps</a:t>
            </a:r>
          </a:p>
        </p:txBody>
      </p: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095500" y="209550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38F9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4628B-925A-48B5-9D30-C608C0EA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504950"/>
            <a:ext cx="15716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14288">
            <a:solidFill>
              <a:srgbClr val="138F9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95661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49.9 Ω per leg</a:t>
            </a:r>
          </a:p>
          <a:p xmlns:a="http://schemas.openxmlformats.org/drawingml/2006/main">
            <a:pPr algn="ctr">
              <a:def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10 nF common-mode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76700" y="209550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38F91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A9CAFE-9FFC-4F89-898A-EA8DFDD2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504950"/>
            <a:ext cx="15716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14288">
            <a:solidFill>
              <a:srgbClr val="138F9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INA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gain ~50</a:t>
            </a:r>
          </a:p>
          <a:p xmlns:a="http://schemas.openxmlformats.org/drawingml/2006/main">
            <a:pPr algn="ctr">
              <a:def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differential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057900" y="209550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38F91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22F5C-40EA-46F3-B821-A517B852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504950"/>
            <a:ext cx="15716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14288">
            <a:solidFill>
              <a:srgbClr val="138F9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MFB + gain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band-pass</a:t>
            </a:r>
          </a:p>
          <a:p xmlns:a="http://schemas.openxmlformats.org/drawingml/2006/main">
            <a:pPr algn="ctr">
              <a:def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~2.2 kHz</a:t>
            </a:r>
          </a:p>
        </p:txBody>
      </p: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039100" y="209550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38F91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18447-E5A6-4A90-8011-E182BACD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504950"/>
            <a:ext cx="15716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14288">
            <a:solidFill>
              <a:srgbClr val="138F9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Comparator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±15 mV</a:t>
            </a:r>
          </a:p>
          <a:p xmlns:a="http://schemas.openxmlformats.org/drawingml/2006/main">
            <a:pPr algn="ctr">
              <a:def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0–3.3 V</a:t>
            </a:r>
          </a:p>
        </p:txBody>
      </p: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0020300" y="209550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38F91"/>
            </a:solidFill>
            <a:prstDash val="solid"/>
          </a:ln>
        </p:spPr>
      </p:cxn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4106f0bb44d6d"/>
          <a:stretch xmlns:a="http://schemas.openxmlformats.org/drawingml/2006/main"/>
        </p:blipFill>
        <p:spPr>
          <a:xfrm xmlns:a="http://schemas.openxmlformats.org/drawingml/2006/main">
            <a:off x="650288" y="3105150"/>
            <a:ext cx="6090823" cy="30289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308A3C-FA20-40F4-A685-881E080B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71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Simulation values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D2944-330F-4AC7-94B4-A3CFAB1F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57625"/>
            <a:ext cx="4143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7.5 mH coil + 690 nF resonates near 2.21 kHz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2.2 kΩ parallel damping limits tank ringing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INA stage gain is modeled as 50 V/V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MFB filtering and final gain drive the comparator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A71F3-677D-4ED0-B4D7-F82B643E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210300"/>
            <a:ext cx="10591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The schematic shows the front-end input stage; later filter and comparator blocks are modeled in the netlist.</a:t>
            </a:r>
          </a:p>
        </p:txBody>
      </p:sp>
    </p:spTree>
    <p:extLst>
      <p:ext uri="{BB962C8B-B14F-4D97-AF65-F5344CB8AC3E}">
        <p14:creationId xmlns:p14="http://schemas.microsoft.com/office/powerpoint/2010/main" val="1072500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84B11-4E5D-47C8-B58A-E7ED714E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LTspice confirms signal-chain amplification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7FACA-57AD-4155-946F-D92C414D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4DC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878E1-41CD-42E2-A455-FEF28E68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C205D-36B6-447F-8C46-055F9322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14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Standalone measuring-circuit netlist, 20 ms transient, synthetic FID input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1885950"/>
          <a:ext xmlns:a="http://schemas.openxmlformats.org/drawingml/2006/main" cx="6286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dd494a86fb477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54A32-B118-4C97-920A-5B6CEB3A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00250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Input 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AAFE5-C66F-4A17-880B-955CE0E4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05075"/>
            <a:ext cx="366712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10 µV peak</a:t>
            </a:r>
          </a:p>
          <a:p xmlns:a="http://schemas.openxmlformats.org/drawingml/2006/main">
            <a:pPr algn="l">
              <a:defRPr sz="15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2.214 kHz</a:t>
            </a:r>
          </a:p>
          <a:p xmlns:a="http://schemas.openxmlformats.org/drawingml/2006/main">
            <a:pPr algn="l">
              <a:defRPr sz="15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200 ms decay constant</a:t>
            </a:r>
          </a:p>
          <a:p xmlns:a="http://schemas.openxmlformats.org/drawingml/2006/main">
            <a:pPr algn="l">
              <a:defRPr sz="15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100 mV 60 Hz common-mode hum</a:t>
            </a:r>
          </a:p>
          <a:p xmlns:a="http://schemas.openxmlformats.org/drawingml/2006/main">
            <a:pPr algn="l">
              <a:defRPr sz="15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10 mV 10 kHz series ripple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B8F50-DC75-4E1D-A3F5-802817CF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624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4DC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C8C23-2926-49C4-B5D7-CA14B344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910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What this shows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2B154-8239-4535-A296-581797BC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029200"/>
            <a:ext cx="3676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The modeled receive chain amplified the synthetic input through the INA and final stage. Idealized amplifier blocks mean this does not establish hardware noise, stability, or sensitivity.</a:t>
            </a:r>
          </a:p>
        </p:txBody>
      </p:sp>
    </p:spTree>
    <p:extLst>
      <p:ext uri="{BB962C8B-B14F-4D97-AF65-F5344CB8AC3E}">
        <p14:creationId xmlns:p14="http://schemas.microsoft.com/office/powerpoint/2010/main" val="8316317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35BD8-DBA7-45A2-BE17-955BADBE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Hardware build and bench validation remain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D5F4A-0C15-4B1B-86E8-287C411E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4DC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826AF-A91E-428A-803B-5D5C8786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ABE04-8DDB-4EF6-AE9C-16D37061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382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867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867A8"/>
                </a:solidFill>
                <a:latin typeface="Helvetica Neue"/>
                <a:ea typeface="Helvetica Neue"/>
                <a:cs typeface="Helvetica Neue"/>
              </a:rPr>
              <a:t>Before assembly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F06AB-E129-46CB-80BD-9131779B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4762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Confirm the exact relay part, pinout, coil voltage, and DC carry rating against measured coil current.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Measure the real sensor coil’s resistance and inductance, then tune with cable and board parasitics included.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Freeze amplifier, comparator, connector, supply, and grounding choices; current netlists use simplified device models.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3D01C-2328-481B-BEF0-90C092A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57325"/>
            <a:ext cx="0" cy="416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DC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5F1BF-4677-4E25-9C9B-2023F180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3827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8F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8F91"/>
                </a:solidFill>
                <a:latin typeface="Helvetica Neue"/>
                <a:ea typeface="Helvetica Neue"/>
                <a:cs typeface="Helvetica Neue"/>
              </a:rPr>
              <a:t>Build and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FABCD-47E2-40F1-88C5-7B09275D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240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Assemble relay and analog front end as separate prototype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Scope relay operate/release timing, contact bounce, and break-before-make behavior before connecting the preamp.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Inject a calibrated 2.2 kHz microvolt signal and measure gain, filter bandwidth, noise pickup, and comparator edges.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Connect the sensor and sample, tune at the test site, and compare measured frequency with a reference field.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E7563-0C10-4610-BE56-076C0786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5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8908F-DAC5-4F2E-B8C0-2946C089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51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985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C98525"/>
                </a:solidFill>
                <a:latin typeface="Helvetica Neue"/>
                <a:ea typeface="Helvetica Neue"/>
                <a:cs typeface="Helvetica Neue"/>
              </a:rPr>
              <a:t>Build gate: verify relay current rating and analog noise performance before integrating the magnetometer.</a:t>
            </a:r>
          </a:p>
        </p:txBody>
      </p:sp>
    </p:spTree>
    <p:extLst>
      <p:ext uri="{BB962C8B-B14F-4D97-AF65-F5344CB8AC3E}">
        <p14:creationId xmlns:p14="http://schemas.microsoft.com/office/powerpoint/2010/main" val="20076294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078561-5648-4C57-B01B-4AEE78FC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67165-EEE3-4A32-962F-6D6A0C9A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4DC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1114D-B9AC-4710-97AC-548A4162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579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27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81D95-B799-4273-855D-DFF99724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[1] PyPPM v1.3 hardware, relay and receive schematics, Sheets 7–10 and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32E5D-A9BE-4B9F-BD1D-EB64DD3B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3C5C5-2B30-4E23-8060-CF607AE2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[2] W. D. S. Ruhunusiri and M. K. Jayananda, “Construction of a Proton Magnetometer,” Institute of Physics, Sri Lanka, 2008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5D835-B0F9-48B5-A1C8-772E52E4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DB1B1-2053-4A6D-9108-824C21CC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[3] X. Guo et al., “Study on Methods of Sensitivity Evaluation of JPM-4 Proton Magnetometer,” Sensors and Materials, vol. 34, no. 1, pp. 13–26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988EF-D05B-4629-BD6F-A2EC8C89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259B1-9475-442F-951A-316E2F9B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[4] Project LTspice files: measuring_circuit.cir and complete_system.cir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35ECC-7867-4850-A9D3-ADF956FB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9245B-9FDA-4997-A632-55096974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6263B"/>
                </a:solidFill>
                <a:latin typeface="Helvetica Neue"/>
                <a:ea typeface="Helvetica Neue"/>
                <a:cs typeface="Helvetica Neue"/>
              </a:rPr>
              <a:t>[5] Project notes: MEASURING_CIRCUIT_AND_RELAY.md and POLARIZATION.md</a:t>
            </a:r>
          </a:p>
        </p:txBody>
      </p:sp>
    </p:spTree>
    <p:extLst>
      <p:ext uri="{BB962C8B-B14F-4D97-AF65-F5344CB8AC3E}">
        <p14:creationId xmlns:p14="http://schemas.microsoft.com/office/powerpoint/2010/main" val="6142348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2026-09-30T16:05:06.6820000Z</dcterms:created>
  <dcterms:modified xsi:type="dcterms:W3CDTF">2026-09-30T16:05:06.6820000Z</dcterms:modified>
</coreProperties>
</file>